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0" r:id="rId2"/>
    <p:sldId id="310" r:id="rId3"/>
    <p:sldId id="309" r:id="rId4"/>
    <p:sldId id="270" r:id="rId5"/>
    <p:sldId id="298" r:id="rId6"/>
    <p:sldId id="273" r:id="rId7"/>
    <p:sldId id="302" r:id="rId8"/>
    <p:sldId id="308" r:id="rId9"/>
  </p:sldIdLst>
  <p:sldSz cx="12192000" cy="6858000"/>
  <p:notesSz cx="6786563" cy="992346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икитин Виктор Васильевич" initials="НВВ" lastIdx="0" clrIdx="0">
    <p:extLst>
      <p:ext uri="{19B8F6BF-5375-455C-9EA6-DF929625EA0E}">
        <p15:presenceInfo xmlns:p15="http://schemas.microsoft.com/office/powerpoint/2012/main" userId="d37c67414ddc73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4E565-9D46-4157-8DE7-6B7F6A85BD5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F3169-83AF-4421-8BF9-014C957537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230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754B4-2C40-4FC9-B7A3-EF8058E45B2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2454D-F3CB-42AB-B321-7F14D01C9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384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Защита ВКР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2B445B-6990-41BE-99BC-C4F5A97E91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11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3739"/>
            <a:ext cx="10515600" cy="73215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080822"/>
            <a:ext cx="10515600" cy="539440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592186"/>
            <a:ext cx="2743200" cy="224986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592186"/>
            <a:ext cx="41148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592186"/>
            <a:ext cx="2743200" cy="224986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76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62888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3583172"/>
            <a:ext cx="10515600" cy="12518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560288"/>
            <a:ext cx="2743200" cy="25688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560288"/>
            <a:ext cx="4114800" cy="25688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560288"/>
            <a:ext cx="2743200" cy="256884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69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9934"/>
            <a:ext cx="10515600" cy="72420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993163"/>
            <a:ext cx="5181600" cy="5460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993163"/>
            <a:ext cx="5181600" cy="5460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592186"/>
            <a:ext cx="27432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592186"/>
            <a:ext cx="41148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6592186"/>
            <a:ext cx="2743200" cy="224986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11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570921"/>
            <a:ext cx="2743200" cy="24625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570921"/>
            <a:ext cx="4114800" cy="24625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570921"/>
            <a:ext cx="2743200" cy="246251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78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5246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932233"/>
            <a:ext cx="10515600" cy="5415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4520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45204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4520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688992" y="0"/>
            <a:ext cx="426013" cy="57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6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6656" y="238537"/>
            <a:ext cx="10963656" cy="2584562"/>
          </a:xfrm>
          <a:ln>
            <a:noFill/>
          </a:ln>
        </p:spPr>
        <p:txBody>
          <a:bodyPr>
            <a:noAutofit/>
          </a:bodyPr>
          <a:lstStyle/>
          <a:p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/>
              <a:t>МИНИСТЕРСТВО НАУКИ И ВЫСШЕГО ОБРАЗОВАНИЯ РОССИЙСКОЙ ФЕДЕРАЦИИ</a:t>
            </a:r>
            <a:br>
              <a:rPr lang="ru-RU" sz="2000" dirty="0"/>
            </a:br>
            <a:r>
              <a:rPr lang="ru-RU" sz="2000" dirty="0"/>
              <a:t>ФЕДЕРАЛЬНОЕ ГОСУДАРСТВЕННОЕ БЮДЖЕТНОЕ ОБРАЗОВАТЕЛЬНОЕ </a:t>
            </a:r>
            <a:br>
              <a:rPr lang="ru-RU" sz="2000" dirty="0"/>
            </a:br>
            <a:r>
              <a:rPr lang="ru-RU" sz="2000" dirty="0"/>
              <a:t>УЧРЕЖДЕНИЕ ВЫСШЕГО ОБРАЗОВАНИЯ</a:t>
            </a:r>
            <a:br>
              <a:rPr lang="ru-RU" sz="2000" dirty="0"/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МОСКОВСКИЙ ГОСУДАРСТВЕННЫЙ УНИВЕРСИТЕТ ТЕХНОЛОГИЙ И УПРАВЛЕНИЯ ИМЕНИ К.Г. РАЗУМОВСКОГО (ПЕРВЫЙ КАЗАЧИЙ УНИВЕРСИТЕТ)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 (магистерская диссертация)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3117" y="3309731"/>
            <a:ext cx="9144000" cy="1655064"/>
          </a:xfrm>
        </p:spPr>
        <p:txBody>
          <a:bodyPr>
            <a:noAutofit/>
          </a:bodyPr>
          <a:lstStyle/>
          <a:p>
            <a:r>
              <a:rPr lang="ru-RU" sz="3200" dirty="0"/>
              <a:t>Разработка автоматизированной системы визуального контроля качества кондитерских изделий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676656" y="5066855"/>
            <a:ext cx="4268206" cy="1437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 студент: 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Алексеев Д.А.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Петров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С.М.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МГУТУ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им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К. Г.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Разумовского</a:t>
            </a:r>
            <a:endParaRPr lang="en-US" sz="2000" dirty="0"/>
          </a:p>
          <a:p>
            <a:pPr algn="l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94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8A64E3F-CD15-4486-A4DC-0766ADD1A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822"/>
            <a:ext cx="10515600" cy="5115792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Актуальность: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Ручной контроль халвы субъективен и зависит от усталости оператора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Результат проверки не повторяем от смены к смене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Необходимость стабилизации контроля внешнего вида кондитерских изделий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Сбор статистики и поиск причин брака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работы: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автоматизированной системы визуального контроля, обеспечивающей обнаружение внешних дефектов халвичных изделий и передачу результата в производственный контур для отбраковки.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0EF5FE-2EC3-41FA-958E-C0E7E306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1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B81C12E1-FB90-47C1-BF2B-977016F4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58" y="1051877"/>
            <a:ext cx="7192433" cy="5394325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0672DF-F683-4E26-912D-E996D130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/>
              <a:t>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218ACA-E28D-4E13-9D66-581654DEB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22777" y="1726167"/>
            <a:ext cx="5394325" cy="4045744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456F658C-BE68-4D1E-AA62-16B7F617C063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Участок фасовки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093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38200" y="3984625"/>
            <a:ext cx="10515600" cy="631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9CB58D6-9199-47B7-97C7-B4FE270CBFF4}"/>
              </a:ext>
            </a:extLst>
          </p:cNvPr>
          <p:cNvSpPr/>
          <p:nvPr/>
        </p:nvSpPr>
        <p:spPr>
          <a:xfrm>
            <a:off x="612648" y="9601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Фокус на поверхностные и трудноуловимые загрязнения</a:t>
            </a:r>
            <a:endParaRPr lang="en-US" sz="12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DAC30639-2D36-4391-9A13-1A899B1D3907}"/>
              </a:ext>
            </a:extLst>
          </p:cNvPr>
          <p:cNvSpPr/>
          <p:nvPr/>
        </p:nvSpPr>
        <p:spPr>
          <a:xfrm>
            <a:off x="822960" y="1581912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B8BDFFF-FC90-4772-B0A6-4E1078E55BAE}"/>
              </a:ext>
            </a:extLst>
          </p:cNvPr>
          <p:cNvSpPr/>
          <p:nvPr/>
        </p:nvSpPr>
        <p:spPr>
          <a:xfrm>
            <a:off x="969264" y="146304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загрязнениям: система оценивает площадь пятна, количество объектов и их положение.</a:t>
            </a:r>
            <a:endParaRPr lang="en-US" sz="17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F25610A-C559-4070-B1E1-40E8F60EC5C8}"/>
              </a:ext>
            </a:extLst>
          </p:cNvPr>
          <p:cNvSpPr/>
          <p:nvPr/>
        </p:nvSpPr>
        <p:spPr>
          <a:xfrm>
            <a:off x="822960" y="2240280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7F82E93-E7EE-431F-8DC3-6875D60641D8}"/>
              </a:ext>
            </a:extLst>
          </p:cNvPr>
          <p:cNvSpPr/>
          <p:nvPr/>
        </p:nvSpPr>
        <p:spPr>
          <a:xfrm>
            <a:off x="969264" y="212140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форме: контролируются контур, площадь проекции, округлость и смещение центра.</a:t>
            </a:r>
            <a:endParaRPr lang="en-US" sz="17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D86CB08-A53A-4AEB-BE86-6A77079A5E04}"/>
              </a:ext>
            </a:extLst>
          </p:cNvPr>
          <p:cNvSpPr/>
          <p:nvPr/>
        </p:nvSpPr>
        <p:spPr>
          <a:xfrm>
            <a:off x="822960" y="2898648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E30F9BD-AE04-4074-87CD-BB3473679566}"/>
              </a:ext>
            </a:extLst>
          </p:cNvPr>
          <p:cNvSpPr/>
          <p:nvPr/>
        </p:nvSpPr>
        <p:spPr>
          <a:xfrm>
            <a:off x="969264" y="277977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поверхности: трещины и сколы фиксируются через анализ контура и неоднородностей.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C7EF4DA-0F34-4DEC-B1FB-9F29EEB700E4}"/>
              </a:ext>
            </a:extLst>
          </p:cNvPr>
          <p:cNvSpPr/>
          <p:nvPr/>
        </p:nvSpPr>
        <p:spPr>
          <a:xfrm>
            <a:off x="822960" y="3557016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6F48094-4D64-4733-902C-97B627C5D854}"/>
              </a:ext>
            </a:extLst>
          </p:cNvPr>
          <p:cNvSpPr/>
          <p:nvPr/>
        </p:nvSpPr>
        <p:spPr>
          <a:xfrm>
            <a:off x="969264" y="343814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Накопление кадров брака помогает искать первопричину редких и случайных отказов.</a:t>
            </a:r>
            <a:endParaRPr lang="en-US" sz="17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12D0218-8BDE-407F-8B8F-A860B06403A2}"/>
              </a:ext>
            </a:extLst>
          </p:cNvPr>
          <p:cNvSpPr/>
          <p:nvPr/>
        </p:nvSpPr>
        <p:spPr>
          <a:xfrm>
            <a:off x="6903720" y="12984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локального пятна на поверхности изделия</a:t>
            </a:r>
            <a:endParaRPr lang="en-US" sz="1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DB97BAD-850B-4AF5-9806-E6F7C8DB5AA5}"/>
              </a:ext>
            </a:extLst>
          </p:cNvPr>
          <p:cNvSpPr/>
          <p:nvPr/>
        </p:nvSpPr>
        <p:spPr>
          <a:xfrm>
            <a:off x="9281160" y="12984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Общий вид в зоне контроля</a:t>
            </a:r>
            <a:endParaRPr lang="en-US" sz="1400" dirty="0"/>
          </a:p>
        </p:txBody>
      </p:sp>
      <p:pic>
        <p:nvPicPr>
          <p:cNvPr id="21" name="Image 0" descr="/mnt/data/defect_crop.png">
            <a:extLst>
              <a:ext uri="{FF2B5EF4-FFF2-40B4-BE49-F238E27FC236}">
                <a16:creationId xmlns:a16="http://schemas.microsoft.com/office/drawing/2014/main" id="{B0286D0E-D795-45E8-8F4A-38466C77B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724" y="1600200"/>
            <a:ext cx="2271713" cy="2423160"/>
          </a:xfrm>
          <a:prstGeom prst="rect">
            <a:avLst/>
          </a:prstGeom>
        </p:spPr>
      </p:pic>
      <p:pic>
        <p:nvPicPr>
          <p:cNvPr id="22" name="Image 1" descr="/mnt/data/a_close_up_photograph_displays_an_industrial_setti.png">
            <a:extLst>
              <a:ext uri="{FF2B5EF4-FFF2-40B4-BE49-F238E27FC236}">
                <a16:creationId xmlns:a16="http://schemas.microsoft.com/office/drawing/2014/main" id="{8B704C67-8C9E-4FEF-9469-75E8CAF8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r="14796"/>
          <a:stretch/>
        </p:blipFill>
        <p:spPr>
          <a:xfrm>
            <a:off x="9281160" y="1600200"/>
            <a:ext cx="2103120" cy="4480560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4EAE3474-C3A9-436C-89F5-C61244218379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Какие дефекты должна видеть система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549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ACE2CCEF-86C4-4648-B1FB-1CBE176909D8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Алгоритмы дефектовки</a:t>
            </a:r>
            <a:endParaRPr lang="en-US" sz="2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4FDC572-AF58-4C80-B25D-A88DEA44C34F}"/>
              </a:ext>
            </a:extLst>
          </p:cNvPr>
          <p:cNvSpPr/>
          <p:nvPr/>
        </p:nvSpPr>
        <p:spPr>
          <a:xfrm>
            <a:off x="749808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</a:t>
            </a:r>
            <a:r>
              <a:rPr lang="ru-RU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работе АСУ </a:t>
            </a:r>
            <a:r>
              <a:rPr lang="en-US" sz="1800" dirty="0" err="1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базовая</a:t>
            </a: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логика реализована на Python + OpenCV и опирается на понятные оператору правила оценки.</a:t>
            </a:r>
            <a:endParaRPr lang="en-US" sz="18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4CEA202-953D-49EB-8F2F-7B3FBD58FADB}"/>
              </a:ext>
            </a:extLst>
          </p:cNvPr>
          <p:cNvSpPr/>
          <p:nvPr/>
        </p:nvSpPr>
        <p:spPr>
          <a:xfrm>
            <a:off x="204825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08A1A23-B3A5-4EF6-B796-6DF7DECB65DC}"/>
              </a:ext>
            </a:extLst>
          </p:cNvPr>
          <p:cNvSpPr/>
          <p:nvPr/>
        </p:nvSpPr>
        <p:spPr>
          <a:xfrm>
            <a:off x="396849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A1294F1-74C3-403D-AE5E-7C377FB0FC64}"/>
              </a:ext>
            </a:extLst>
          </p:cNvPr>
          <p:cNvSpPr/>
          <p:nvPr/>
        </p:nvSpPr>
        <p:spPr>
          <a:xfrm>
            <a:off x="588873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30AE3A22-8C02-4D77-BB4F-CD6EC4E4C11E}"/>
              </a:ext>
            </a:extLst>
          </p:cNvPr>
          <p:cNvSpPr/>
          <p:nvPr/>
        </p:nvSpPr>
        <p:spPr>
          <a:xfrm>
            <a:off x="780897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EA65E6E-9428-4C72-A8B5-A836EED4E392}"/>
              </a:ext>
            </a:extLst>
          </p:cNvPr>
          <p:cNvSpPr/>
          <p:nvPr/>
        </p:nvSpPr>
        <p:spPr>
          <a:xfrm>
            <a:off x="972921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75A7476-4E2F-4E25-8551-8E038E9253D8}"/>
              </a:ext>
            </a:extLst>
          </p:cNvPr>
          <p:cNvSpPr/>
          <p:nvPr/>
        </p:nvSpPr>
        <p:spPr>
          <a:xfrm>
            <a:off x="56692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Сигнал от ПЛК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старт цикла</a:t>
            </a:r>
            <a:endParaRPr lang="en-US" sz="165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62DB386-7795-47AC-AB5A-C7B5D87EF9F9}"/>
              </a:ext>
            </a:extLst>
          </p:cNvPr>
          <p:cNvSpPr/>
          <p:nvPr/>
        </p:nvSpPr>
        <p:spPr>
          <a:xfrm>
            <a:off x="248716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Захват кадра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камера + свет</a:t>
            </a:r>
            <a:endParaRPr lang="en-US" sz="16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5EE158D-8303-40DB-B9BB-38DF79F6915A}"/>
              </a:ext>
            </a:extLst>
          </p:cNvPr>
          <p:cNvSpPr/>
          <p:nvPr/>
        </p:nvSpPr>
        <p:spPr>
          <a:xfrm>
            <a:off x="440740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и HSV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зоны интереса</a:t>
            </a:r>
            <a:endParaRPr lang="en-US" sz="16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DA62917-0D31-47A0-A38D-B60460002C09}"/>
              </a:ext>
            </a:extLst>
          </p:cNvPr>
          <p:cNvSpPr/>
          <p:nvPr/>
        </p:nvSpPr>
        <p:spPr>
          <a:xfrm>
            <a:off x="632764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Морфология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контуры и маски</a:t>
            </a:r>
            <a:endParaRPr lang="en-US" sz="165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34D2829-39DE-4155-9ABE-66E1AA837312}"/>
              </a:ext>
            </a:extLst>
          </p:cNvPr>
          <p:cNvSpPr/>
          <p:nvPr/>
        </p:nvSpPr>
        <p:spPr>
          <a:xfrm>
            <a:off x="824788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Метрики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площадь и форма</a:t>
            </a:r>
            <a:endParaRPr lang="en-US" sz="165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2191AC4-BFC2-435D-9E5B-19F1DB81E3EB}"/>
              </a:ext>
            </a:extLst>
          </p:cNvPr>
          <p:cNvSpPr/>
          <p:nvPr/>
        </p:nvSpPr>
        <p:spPr>
          <a:xfrm>
            <a:off x="10058400" y="1972945"/>
            <a:ext cx="1481328" cy="914400"/>
          </a:xfrm>
          <a:prstGeom prst="rect">
            <a:avLst/>
          </a:prstGeom>
          <a:solidFill>
            <a:srgbClr val="F3E4E4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норма / брак</a:t>
            </a:r>
            <a:endParaRPr lang="en-US" sz="165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0F92F54F-AB99-4E10-9EA1-4D35D5517C6B}"/>
              </a:ext>
            </a:extLst>
          </p:cNvPr>
          <p:cNvSpPr/>
          <p:nvPr/>
        </p:nvSpPr>
        <p:spPr>
          <a:xfrm>
            <a:off x="736092" y="316865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После сегментации система формирует метрики дефекта и передает результат в ПЛК. Пороговые параметры можно перенастраивать без изменения общей архитектуры.</a:t>
            </a:r>
            <a:endParaRPr lang="en-US" sz="18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FE4E6DF-3618-48AE-B856-5AFEBE1139E8}"/>
              </a:ext>
            </a:extLst>
          </p:cNvPr>
          <p:cNvSpPr/>
          <p:nvPr/>
        </p:nvSpPr>
        <p:spPr>
          <a:xfrm>
            <a:off x="2048256" y="4073260"/>
            <a:ext cx="2897393" cy="2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Наложение маски на кадр для отсева лишних частей изображения</a:t>
            </a:r>
            <a:endParaRPr lang="en-US" sz="14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7693FF-0ADC-41FB-9E44-BDCAE6D53809}"/>
              </a:ext>
            </a:extLst>
          </p:cNvPr>
          <p:cNvSpPr/>
          <p:nvPr/>
        </p:nvSpPr>
        <p:spPr>
          <a:xfrm>
            <a:off x="7952454" y="3968412"/>
            <a:ext cx="2331720" cy="55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Лог системы 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в файл </a:t>
            </a:r>
            <a:r>
              <a:rPr lang="en-US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.txt</a:t>
            </a:r>
            <a:endParaRPr lang="en-US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4DB2B1-86A3-42BA-B641-8CDE48486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68" y="4519250"/>
            <a:ext cx="2918287" cy="19847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62EBF4-11F3-4970-A6FE-764F1FCAE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255" y="4607456"/>
            <a:ext cx="3299642" cy="18965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D9F86D-471D-4A0F-A4E4-CBE49B8046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460" y="4607456"/>
            <a:ext cx="3544484" cy="190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2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A6B3A20-0BDD-436A-9E67-DB33E2994D24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Структура АСУ визуального контроля</a:t>
            </a:r>
            <a:endParaRPr lang="en-US" sz="2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1BF9484-1085-4C1A-8D20-6736E02DFF40}"/>
              </a:ext>
            </a:extLst>
          </p:cNvPr>
          <p:cNvSpPr/>
          <p:nvPr/>
        </p:nvSpPr>
        <p:spPr>
          <a:xfrm>
            <a:off x="749808" y="1216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Контур распознавания расположен на ПК, а исполнительное действие остается на стороне ПЛК.</a:t>
            </a:r>
            <a:endParaRPr lang="en-US" sz="18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2237C21-ACAD-40FE-B7DC-F683CAF4F6FD}"/>
              </a:ext>
            </a:extLst>
          </p:cNvPr>
          <p:cNvSpPr/>
          <p:nvPr/>
        </p:nvSpPr>
        <p:spPr>
          <a:xfrm>
            <a:off x="2400300" y="2468879"/>
            <a:ext cx="644741" cy="9143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ECCD0A9-F3FC-41A0-9A81-7D53FDFFC827}"/>
              </a:ext>
            </a:extLst>
          </p:cNvPr>
          <p:cNvSpPr/>
          <p:nvPr/>
        </p:nvSpPr>
        <p:spPr>
          <a:xfrm flipV="1">
            <a:off x="5093119" y="2478022"/>
            <a:ext cx="71332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213964D-DF07-4F9A-8094-C0D6BDF1C76C}"/>
              </a:ext>
            </a:extLst>
          </p:cNvPr>
          <p:cNvSpPr/>
          <p:nvPr/>
        </p:nvSpPr>
        <p:spPr>
          <a:xfrm>
            <a:off x="7652551" y="2466596"/>
            <a:ext cx="639194" cy="11426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56EA7D-893D-4ACB-8FAB-78D699D7187A}"/>
              </a:ext>
            </a:extLst>
          </p:cNvPr>
          <p:cNvSpPr/>
          <p:nvPr/>
        </p:nvSpPr>
        <p:spPr>
          <a:xfrm>
            <a:off x="6697980" y="2880360"/>
            <a:ext cx="2" cy="1097281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02CCA0D-CA49-4E80-849C-ACE119A1A5DA}"/>
              </a:ext>
            </a:extLst>
          </p:cNvPr>
          <p:cNvSpPr/>
          <p:nvPr/>
        </p:nvSpPr>
        <p:spPr>
          <a:xfrm>
            <a:off x="4069080" y="2880360"/>
            <a:ext cx="0" cy="1097281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212C71B-B056-412C-88DE-00F39E00B63D}"/>
              </a:ext>
            </a:extLst>
          </p:cNvPr>
          <p:cNvSpPr/>
          <p:nvPr/>
        </p:nvSpPr>
        <p:spPr>
          <a:xfrm>
            <a:off x="914400" y="2057400"/>
            <a:ext cx="141732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Камера и свет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формирование кадра</a:t>
            </a:r>
            <a:endParaRPr lang="en-US" sz="16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BA94D50-EA3C-4ED7-BEF1-2ED16C61EFC7}"/>
              </a:ext>
            </a:extLst>
          </p:cNvPr>
          <p:cNvSpPr/>
          <p:nvPr/>
        </p:nvSpPr>
        <p:spPr>
          <a:xfrm>
            <a:off x="3154680" y="2057400"/>
            <a:ext cx="1828800" cy="822960"/>
          </a:xfrm>
          <a:prstGeom prst="rect">
            <a:avLst/>
          </a:prstGeom>
          <a:solidFill>
            <a:srgbClr val="FFF7E3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ПК с алгоритмом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/ OpenCV</a:t>
            </a:r>
            <a:endParaRPr lang="en-US" sz="16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69EDFB1-9BD2-46C4-A865-CCCACBBAC7C3}"/>
              </a:ext>
            </a:extLst>
          </p:cNvPr>
          <p:cNvSpPr/>
          <p:nvPr/>
        </p:nvSpPr>
        <p:spPr>
          <a:xfrm>
            <a:off x="5897880" y="2057400"/>
            <a:ext cx="160020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ПЛК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cs typeface="Times New Roman" pitchFamily="34" charset="-120"/>
              </a:rPr>
              <a:t>ST</a:t>
            </a:r>
            <a:r>
              <a:rPr lang="ru-RU" sz="1650" dirty="0">
                <a:solidFill>
                  <a:srgbClr val="5D554C"/>
                </a:solidFill>
                <a:latin typeface="Times New Roman" pitchFamily="34" charset="0"/>
                <a:cs typeface="Times New Roman" pitchFamily="34" charset="-120"/>
              </a:rPr>
              <a:t>-код</a:t>
            </a:r>
            <a:endParaRPr lang="en-US" sz="16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C1AF612-70FE-4E52-AB11-5CEEE1D51D95}"/>
              </a:ext>
            </a:extLst>
          </p:cNvPr>
          <p:cNvSpPr/>
          <p:nvPr/>
        </p:nvSpPr>
        <p:spPr>
          <a:xfrm>
            <a:off x="8412480" y="2057400"/>
            <a:ext cx="1965960" cy="822960"/>
          </a:xfrm>
          <a:prstGeom prst="rect">
            <a:avLst/>
          </a:prstGeom>
          <a:solidFill>
            <a:srgbClr val="F3E4E4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Исполнительный узел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механизм браковки</a:t>
            </a:r>
            <a:endParaRPr lang="en-US" sz="16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953B829-9BB9-4336-8597-E5767E6BBF99}"/>
              </a:ext>
            </a:extLst>
          </p:cNvPr>
          <p:cNvSpPr/>
          <p:nvPr/>
        </p:nvSpPr>
        <p:spPr>
          <a:xfrm>
            <a:off x="5623560" y="4066795"/>
            <a:ext cx="214884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Панель оператора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статус и наладка</a:t>
            </a:r>
            <a:endParaRPr lang="en-US" sz="16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7654DE7-6281-432A-9790-6234451A0EE3}"/>
              </a:ext>
            </a:extLst>
          </p:cNvPr>
          <p:cNvSpPr/>
          <p:nvPr/>
        </p:nvSpPr>
        <p:spPr>
          <a:xfrm>
            <a:off x="2651760" y="4069080"/>
            <a:ext cx="242316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Архив и журнал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кадры, события, статистика</a:t>
            </a:r>
            <a:endParaRPr lang="en-US" sz="16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6E78AF4-23D7-49C7-BD0A-116E79154033}"/>
              </a:ext>
            </a:extLst>
          </p:cNvPr>
          <p:cNvSpPr/>
          <p:nvPr/>
        </p:nvSpPr>
        <p:spPr>
          <a:xfrm>
            <a:off x="749808" y="548640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Такое разделение повышает надежность, упрощает интеграцию и облегчает масштабирование на другие участки.</a:t>
            </a:r>
            <a:endParaRPr lang="en-US" sz="18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C795C10-6835-4775-9F40-FA0355372540}"/>
              </a:ext>
            </a:extLst>
          </p:cNvPr>
          <p:cNvSpPr/>
          <p:nvPr/>
        </p:nvSpPr>
        <p:spPr>
          <a:xfrm>
            <a:off x="8412480" y="3470149"/>
            <a:ext cx="214884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sz="1650" b="1" dirty="0">
                <a:solidFill>
                  <a:srgbClr val="2D2926"/>
                </a:solidFill>
                <a:latin typeface="Times New Roman" pitchFamily="34" charset="0"/>
                <a:cs typeface="Times New Roman" pitchFamily="34" charset="-120"/>
              </a:rPr>
              <a:t>Датчик наличия объекта</a:t>
            </a:r>
            <a:endParaRPr lang="en-US" sz="16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84559D1B-069C-4517-B94D-E1B44233B950}"/>
              </a:ext>
            </a:extLst>
          </p:cNvPr>
          <p:cNvSpPr/>
          <p:nvPr/>
        </p:nvSpPr>
        <p:spPr>
          <a:xfrm flipH="1" flipV="1">
            <a:off x="7652552" y="2969515"/>
            <a:ext cx="714219" cy="514349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0B89B51-5FB8-4153-AD66-2B294C056AE9}"/>
              </a:ext>
            </a:extLst>
          </p:cNvPr>
          <p:cNvSpPr/>
          <p:nvPr/>
        </p:nvSpPr>
        <p:spPr>
          <a:xfrm flipH="1">
            <a:off x="5093119" y="2630422"/>
            <a:ext cx="657243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09529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24C994A-8E30-46EA-9D96-105461DD424E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Варианты сортировки и отбраковки</a:t>
            </a: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D653D9D-9BFA-4F0C-B82A-51B59F800056}"/>
              </a:ext>
            </a:extLst>
          </p:cNvPr>
          <p:cNvSpPr/>
          <p:nvPr/>
        </p:nvSpPr>
        <p:spPr>
          <a:xfrm>
            <a:off x="762000" y="4471682"/>
            <a:ext cx="2148840" cy="1463040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Дельта</a:t>
            </a: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ru-RU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скара робот</a:t>
            </a:r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Гибкая сортировка по нескольким классам качества.</a:t>
            </a:r>
            <a:endParaRPr lang="en-US" sz="15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87338D-C157-4442-993A-9A514C1F3656}"/>
              </a:ext>
            </a:extLst>
          </p:cNvPr>
          <p:cNvSpPr/>
          <p:nvPr/>
        </p:nvSpPr>
        <p:spPr>
          <a:xfrm>
            <a:off x="5021580" y="4474345"/>
            <a:ext cx="2148840" cy="1463039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Пневмотолкатель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или отводящая планка</a:t>
            </a:r>
            <a:endParaRPr lang="en-US" sz="1550" dirty="0"/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Простое решение для фиксированной позиции сброса.</a:t>
            </a:r>
            <a:endParaRPr lang="en-US" sz="15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847F721-4F9E-4BB2-87F1-8A5C13B06906}"/>
              </a:ext>
            </a:extLst>
          </p:cNvPr>
          <p:cNvSpPr/>
          <p:nvPr/>
        </p:nvSpPr>
        <p:spPr>
          <a:xfrm>
            <a:off x="9281160" y="4471682"/>
            <a:ext cx="2148840" cy="1463040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Воздушная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форсунка</a:t>
            </a:r>
            <a:endParaRPr lang="en-US" sz="1550" dirty="0"/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Быстрая реакция для легких изделий.</a:t>
            </a:r>
            <a:endParaRPr lang="en-US" sz="1550" dirty="0"/>
          </a:p>
        </p:txBody>
      </p:sp>
      <p:pic>
        <p:nvPicPr>
          <p:cNvPr id="10" name="Picture 2" descr="Дельта роботы серии IR-DT - купить по доступным ценам с доставкой по России  в КАМИ">
            <a:extLst>
              <a:ext uri="{FF2B5EF4-FFF2-40B4-BE49-F238E27FC236}">
                <a16:creationId xmlns:a16="http://schemas.microsoft.com/office/drawing/2014/main" id="{36A8263C-45C0-466D-A6C7-9781060BC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45" y="1558100"/>
            <a:ext cx="19621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602CDB-B1B5-4F98-8FEB-6C1B238B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68" y="1453435"/>
            <a:ext cx="3444582" cy="25681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ADADDDC-B70B-4292-A920-E0B01BAB0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55" y="1453435"/>
            <a:ext cx="3180386" cy="256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2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98080A3-71D0-4CE8-BE40-EEFC64BDE250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Итоги и практическая ценность решения</a:t>
            </a:r>
            <a:endParaRPr lang="en-US" sz="2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A1EE763-E46C-48EF-913F-AF11CCF1266F}"/>
              </a:ext>
            </a:extLst>
          </p:cNvPr>
          <p:cNvSpPr/>
          <p:nvPr/>
        </p:nvSpPr>
        <p:spPr>
          <a:xfrm>
            <a:off x="177552" y="1225119"/>
            <a:ext cx="7457243" cy="478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ходе работы</a:t>
            </a:r>
            <a:r>
              <a:rPr lang="en-US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ru-RU" sz="1600" b="1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решены следующие задачи</a:t>
            </a: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Разработана адаптированная к халве структура алгоритма визуального контроля.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Обоснован выбор аппаратных средств (камера, подсветка, ПЛК).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Реализован программный прототип с журналированием и сохранением изображений брака.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Экспериментально подтверждена работоспособность: 70% обнаружения, 2% ложных тревог.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dirty="0" err="1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Практическая</a:t>
            </a:r>
            <a:r>
              <a:rPr lang="en-US" sz="1600" b="1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значимость</a:t>
            </a:r>
            <a:r>
              <a:rPr lang="en-US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Система стабилизирует контроль качества, снижая влияние человека.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Формируется цифровой архив дефектов для анализа причин брака.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ru-RU" sz="1600" dirty="0">
                <a:solidFill>
                  <a:srgbClr val="0F111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</a:t>
            </a:r>
            <a:r>
              <a:rPr lang="ru-RU" sz="160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труктура может быть масштабирована на другие кондитерские изделия.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E97734-5455-4FC1-BA51-5854D0025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97" y="1543988"/>
            <a:ext cx="3317141" cy="447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895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37661</TotalTime>
  <Words>484</Words>
  <Application>Microsoft Office PowerPoint</Application>
  <PresentationFormat>Широкоэкранный</PresentationFormat>
  <Paragraphs>84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quote-cjk-patch</vt:lpstr>
      <vt:lpstr>Times New Roman</vt:lpstr>
      <vt:lpstr>Тема Office</vt:lpstr>
      <vt:lpstr>  МИНИСТЕРСТВО НАУКИ И ВЫСШЕГО ОБРАЗОВАНИЯ РОССИЙСКОЙ ФЕДЕРАЦИИ ФЕДЕРАЛЬНОЕ ГОСУДАРСТВЕННОЕ БЮДЖЕТНОЕ ОБРАЗОВАТЕЛЬНОЕ  УЧРЕЖДЕНИЕ ВЫСШЕГО ОБРАЗОВАНИЯ МОСКОВСКИЙ ГОСУДАРСТВЕННЫЙ УНИВЕРСИТЕТ ТЕХНОЛОГИЙ И УПРАВЛЕНИЯ ИМЕНИ К.Г. РАЗУМОВСКОГО (ПЕРВЫЙ КАЗАЧИЙ УНИВЕРСИТЕТ)  Выпускная квалификационная работа (магистерская диссертация)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МОСКОВСКИЙ ГОСУДАРСТВЕННЫЙ УНИВЕРСИТЕТ ТЕХНОЛОГИЙ И УПРАВЛЕНИЯ ИМЕНИ К.Г. РАЗУМОВСКОГО (ПЕРВЫЙ КАЗАЧИЙ УНИВЕРСИТЕТ)  кафедра «Информационные системы и цифровые технологии» Направление подготовки: 09.03.01 Информатика и вычислительная техника Направленность (профиль): Проектирование программного обеспечения для бизнеса</dc:title>
  <dc:creator>v.v.nikitin@MGUTU.LOC</dc:creator>
  <cp:lastModifiedBy>admin</cp:lastModifiedBy>
  <cp:revision>350</cp:revision>
  <cp:lastPrinted>2024-09-16T08:03:49Z</cp:lastPrinted>
  <dcterms:created xsi:type="dcterms:W3CDTF">2024-05-21T11:53:15Z</dcterms:created>
  <dcterms:modified xsi:type="dcterms:W3CDTF">2026-06-07T20:47:50Z</dcterms:modified>
</cp:coreProperties>
</file>