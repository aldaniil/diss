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0" r:id="rId2"/>
    <p:sldId id="270" r:id="rId3"/>
    <p:sldId id="298" r:id="rId4"/>
    <p:sldId id="273" r:id="rId5"/>
    <p:sldId id="302" r:id="rId6"/>
    <p:sldId id="308" r:id="rId7"/>
  </p:sldIdLst>
  <p:sldSz cx="12192000" cy="6858000"/>
  <p:notesSz cx="6786563" cy="992346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Никитин Виктор Васильевич" initials="НВВ" lastIdx="0" clrIdx="0">
    <p:extLst>
      <p:ext uri="{19B8F6BF-5375-455C-9EA6-DF929625EA0E}">
        <p15:presenceInfo xmlns:p15="http://schemas.microsoft.com/office/powerpoint/2012/main" userId="d37c67414ddc73c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4149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4E565-9D46-4157-8DE7-6B7F6A85BD5A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4149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F3169-83AF-4421-8BF9-014C957537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2306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4149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754B4-2C40-4FC9-B7A3-EF8058E45B28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39838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8657" y="4775666"/>
            <a:ext cx="542925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4149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2454D-F3CB-42AB-B321-7F14D01C9B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384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Защита ВКР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2B445B-6990-41BE-99BC-C4F5A97E91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11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3739"/>
            <a:ext cx="10515600" cy="732155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080822"/>
            <a:ext cx="10515600" cy="539440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592186"/>
            <a:ext cx="2743200" cy="224986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592186"/>
            <a:ext cx="4114800" cy="22498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592186"/>
            <a:ext cx="2743200" cy="224986"/>
          </a:xfrm>
        </p:spPr>
        <p:txBody>
          <a:bodyPr/>
          <a:lstStyle/>
          <a:p>
            <a:fld id="{E12B445B-6990-41BE-99BC-C4F5A97E91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76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62888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3583172"/>
            <a:ext cx="10515600" cy="125183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560288"/>
            <a:ext cx="2743200" cy="25688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560288"/>
            <a:ext cx="4114800" cy="25688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560288"/>
            <a:ext cx="2743200" cy="256884"/>
          </a:xfrm>
        </p:spPr>
        <p:txBody>
          <a:bodyPr/>
          <a:lstStyle/>
          <a:p>
            <a:fld id="{E12B445B-6990-41BE-99BC-C4F5A97E91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69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09934"/>
            <a:ext cx="10515600" cy="72420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993163"/>
            <a:ext cx="5181600" cy="5460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993163"/>
            <a:ext cx="5181600" cy="5460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592186"/>
            <a:ext cx="2743200" cy="22498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592186"/>
            <a:ext cx="4114800" cy="22498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10600" y="6592186"/>
            <a:ext cx="2743200" cy="224986"/>
          </a:xfrm>
        </p:spPr>
        <p:txBody>
          <a:bodyPr/>
          <a:lstStyle/>
          <a:p>
            <a:fld id="{E12B445B-6990-41BE-99BC-C4F5A97E91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11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570921"/>
            <a:ext cx="2743200" cy="24625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570921"/>
            <a:ext cx="4114800" cy="246251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570921"/>
            <a:ext cx="2743200" cy="246251"/>
          </a:xfrm>
        </p:spPr>
        <p:txBody>
          <a:bodyPr/>
          <a:lstStyle/>
          <a:p>
            <a:fld id="{E12B445B-6990-41BE-99BC-C4F5A97E91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78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52466"/>
            <a:ext cx="10515600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932233"/>
            <a:ext cx="10515600" cy="5415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4520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45204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4520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B445B-6990-41BE-99BC-C4F5A97E9167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688992" y="0"/>
            <a:ext cx="426013" cy="57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6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76656" y="238537"/>
            <a:ext cx="10963656" cy="1544543"/>
          </a:xfrm>
          <a:ln>
            <a:noFill/>
          </a:ln>
        </p:spPr>
        <p:txBody>
          <a:bodyPr>
            <a:noAutofit/>
          </a:bodyPr>
          <a:lstStyle/>
          <a:p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/>
              <a:t>МИНИСТЕРСТВО НАУКИ И ВЫСШЕГО ОБРАЗОВАНИЯ РОССИЙСКОЙ ФЕДЕРАЦИИ</a:t>
            </a:r>
            <a:br>
              <a:rPr lang="ru-RU" sz="2000" dirty="0"/>
            </a:br>
            <a:r>
              <a:rPr lang="ru-RU" sz="2000" dirty="0"/>
              <a:t>ФЕДЕРАЛЬНОЕ ГОСУДАРСТВЕННОЕ БЮДЖЕТНОЕ ОБРАЗОВАТЕЛЬНОЕ </a:t>
            </a:r>
            <a:br>
              <a:rPr lang="ru-RU" sz="2000" dirty="0"/>
            </a:br>
            <a:r>
              <a:rPr lang="ru-RU" sz="2000" dirty="0"/>
              <a:t>УЧРЕЖДЕНИЕ ВЫСШЕГО ОБРАЗОВАНИЯ</a:t>
            </a:r>
            <a:br>
              <a:rPr lang="ru-RU" sz="2000" dirty="0"/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МОСКОВСКИЙ ГОСУДАРСТВЕННЫЙ УНИВЕРСИТЕТ ТЕХНОЛОГИЙ И УПРАВЛЕНИЯ ИМЕНИ К.Г. РАЗУМОВСКОГО (ПЕРВЫЙ КАЗАЧИЙ УНИВЕРСИТЕТ)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86484" y="2537374"/>
            <a:ext cx="9144000" cy="1655064"/>
          </a:xfrm>
        </p:spPr>
        <p:txBody>
          <a:bodyPr>
            <a:noAutofit/>
          </a:bodyPr>
          <a:lstStyle/>
          <a:p>
            <a:r>
              <a:rPr lang="ru-RU" sz="3200" dirty="0"/>
              <a:t>Разработка автоматизированной системы визуального контроля качества кондитерских изделий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676656" y="5066855"/>
            <a:ext cx="4268206" cy="14371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 студент: 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Алексеев Д.А.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Научный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Петров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С.М.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МГУТУ </a:t>
            </a: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им</a:t>
            </a:r>
            <a:r>
              <a:rPr lang="en-US" sz="20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К. Г. </a:t>
            </a:r>
            <a:r>
              <a:rPr lang="en-US" sz="2000" dirty="0" err="1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Разумовского</a:t>
            </a:r>
            <a:endParaRPr lang="en-US" sz="2000" dirty="0"/>
          </a:p>
          <a:p>
            <a:pPr algn="l"/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94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38200" y="3984625"/>
            <a:ext cx="10515600" cy="631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C9CB58D6-9199-47B7-97C7-B4FE270CBFF4}"/>
              </a:ext>
            </a:extLst>
          </p:cNvPr>
          <p:cNvSpPr/>
          <p:nvPr/>
        </p:nvSpPr>
        <p:spPr>
          <a:xfrm>
            <a:off x="612648" y="96012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Фокус на поверхностные и трудноуловимые загрязнения</a:t>
            </a:r>
            <a:endParaRPr lang="en-US" sz="12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DAC30639-2D36-4391-9A13-1A899B1D3907}"/>
              </a:ext>
            </a:extLst>
          </p:cNvPr>
          <p:cNvSpPr/>
          <p:nvPr/>
        </p:nvSpPr>
        <p:spPr>
          <a:xfrm>
            <a:off x="822960" y="1581912"/>
            <a:ext cx="73152" cy="73152"/>
          </a:xfrm>
          <a:prstGeom prst="ellipse">
            <a:avLst/>
          </a:prstGeom>
          <a:solidFill>
            <a:srgbClr val="8A6C13"/>
          </a:solidFill>
          <a:ln w="12700">
            <a:solidFill>
              <a:srgbClr val="8A6C13"/>
            </a:solidFill>
            <a:prstDash val="solid"/>
          </a:ln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B8BDFFF-FC90-4772-B0A6-4E1078E55BAE}"/>
              </a:ext>
            </a:extLst>
          </p:cNvPr>
          <p:cNvSpPr/>
          <p:nvPr/>
        </p:nvSpPr>
        <p:spPr>
          <a:xfrm>
            <a:off x="969264" y="146304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загрязнениям: система оценивает площадь пятна, количество объектов и их положение.</a:t>
            </a:r>
            <a:endParaRPr lang="en-US" sz="17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CF25610A-C559-4070-B1E1-40E8F60EC5C8}"/>
              </a:ext>
            </a:extLst>
          </p:cNvPr>
          <p:cNvSpPr/>
          <p:nvPr/>
        </p:nvSpPr>
        <p:spPr>
          <a:xfrm>
            <a:off x="822960" y="2240280"/>
            <a:ext cx="73152" cy="73152"/>
          </a:xfrm>
          <a:prstGeom prst="ellipse">
            <a:avLst/>
          </a:prstGeom>
          <a:solidFill>
            <a:srgbClr val="8A6C13"/>
          </a:solidFill>
          <a:ln w="12700">
            <a:solidFill>
              <a:srgbClr val="8A6C13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7F82E93-E7EE-431F-8DC3-6875D60641D8}"/>
              </a:ext>
            </a:extLst>
          </p:cNvPr>
          <p:cNvSpPr/>
          <p:nvPr/>
        </p:nvSpPr>
        <p:spPr>
          <a:xfrm>
            <a:off x="969264" y="212140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форме: контролируются контур, площадь проекции, округлость и смещение центра.</a:t>
            </a:r>
            <a:endParaRPr lang="en-US" sz="17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D86CB08-A53A-4AEB-BE86-6A77079A5E04}"/>
              </a:ext>
            </a:extLst>
          </p:cNvPr>
          <p:cNvSpPr/>
          <p:nvPr/>
        </p:nvSpPr>
        <p:spPr>
          <a:xfrm>
            <a:off x="822960" y="2898648"/>
            <a:ext cx="73152" cy="73152"/>
          </a:xfrm>
          <a:prstGeom prst="ellipse">
            <a:avLst/>
          </a:prstGeom>
          <a:solidFill>
            <a:srgbClr val="8A6C13"/>
          </a:solidFill>
          <a:ln w="12700">
            <a:solidFill>
              <a:srgbClr val="8A6C13"/>
            </a:solidFill>
            <a:prstDash val="solid"/>
          </a:ln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3E30F9BD-AE04-4074-87CD-BB3473679566}"/>
              </a:ext>
            </a:extLst>
          </p:cNvPr>
          <p:cNvSpPr/>
          <p:nvPr/>
        </p:nvSpPr>
        <p:spPr>
          <a:xfrm>
            <a:off x="969264" y="2779776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поверхности: трещины и сколы фиксируются через анализ контура и неоднородностей.</a:t>
            </a:r>
            <a:endParaRPr lang="en-US" sz="17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1C7EF4DA-0F34-4DEC-B1FB-9F29EEB700E4}"/>
              </a:ext>
            </a:extLst>
          </p:cNvPr>
          <p:cNvSpPr/>
          <p:nvPr/>
        </p:nvSpPr>
        <p:spPr>
          <a:xfrm>
            <a:off x="822960" y="3557016"/>
            <a:ext cx="73152" cy="73152"/>
          </a:xfrm>
          <a:prstGeom prst="ellipse">
            <a:avLst/>
          </a:prstGeom>
          <a:solidFill>
            <a:srgbClr val="8A6C13"/>
          </a:solidFill>
          <a:ln w="12700">
            <a:solidFill>
              <a:srgbClr val="8A6C13"/>
            </a:solidFill>
            <a:prstDash val="solid"/>
          </a:ln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6F48094-4D64-4733-902C-97B627C5D854}"/>
              </a:ext>
            </a:extLst>
          </p:cNvPr>
          <p:cNvSpPr/>
          <p:nvPr/>
        </p:nvSpPr>
        <p:spPr>
          <a:xfrm>
            <a:off x="969264" y="3438144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Накопление кадров брака помогает искать первопричину редких и случайных отказов.</a:t>
            </a:r>
            <a:endParaRPr lang="en-US" sz="17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12D0218-8BDE-407F-8B8F-A860B06403A2}"/>
              </a:ext>
            </a:extLst>
          </p:cNvPr>
          <p:cNvSpPr/>
          <p:nvPr/>
        </p:nvSpPr>
        <p:spPr>
          <a:xfrm>
            <a:off x="6903720" y="12984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локального пятна на поверхности изделия</a:t>
            </a:r>
            <a:endParaRPr lang="en-US" sz="14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DB97BAD-850B-4AF5-9806-E6F7C8DB5AA5}"/>
              </a:ext>
            </a:extLst>
          </p:cNvPr>
          <p:cNvSpPr/>
          <p:nvPr/>
        </p:nvSpPr>
        <p:spPr>
          <a:xfrm>
            <a:off x="9281160" y="12984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Общий вид в зоне контроля</a:t>
            </a:r>
            <a:endParaRPr lang="en-US" sz="1400" dirty="0"/>
          </a:p>
        </p:txBody>
      </p:sp>
      <p:pic>
        <p:nvPicPr>
          <p:cNvPr id="21" name="Image 0" descr="/mnt/data/defect_crop.png">
            <a:extLst>
              <a:ext uri="{FF2B5EF4-FFF2-40B4-BE49-F238E27FC236}">
                <a16:creationId xmlns:a16="http://schemas.microsoft.com/office/drawing/2014/main" id="{B0286D0E-D795-45E8-8F4A-38466C77B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724" y="1600200"/>
            <a:ext cx="2271713" cy="2423160"/>
          </a:xfrm>
          <a:prstGeom prst="rect">
            <a:avLst/>
          </a:prstGeom>
        </p:spPr>
      </p:pic>
      <p:pic>
        <p:nvPicPr>
          <p:cNvPr id="22" name="Image 1" descr="/mnt/data/a_close_up_photograph_displays_an_industrial_setti.png">
            <a:extLst>
              <a:ext uri="{FF2B5EF4-FFF2-40B4-BE49-F238E27FC236}">
                <a16:creationId xmlns:a16="http://schemas.microsoft.com/office/drawing/2014/main" id="{8B704C67-8C9E-4FEF-9469-75E8CAF89C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6" r="14796"/>
          <a:stretch/>
        </p:blipFill>
        <p:spPr>
          <a:xfrm>
            <a:off x="9281160" y="1600200"/>
            <a:ext cx="2103120" cy="4480560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4EAE3474-C3A9-436C-89F5-C61244218379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Какие дефекты должна видеть система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5490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ACE2CCEF-86C4-4648-B1FB-1CBE176909D8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Алгоритмы дефектовки</a:t>
            </a:r>
            <a:endParaRPr lang="en-US" sz="24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4FDC572-AF58-4C80-B25D-A88DEA44C34F}"/>
              </a:ext>
            </a:extLst>
          </p:cNvPr>
          <p:cNvSpPr/>
          <p:nvPr/>
        </p:nvSpPr>
        <p:spPr>
          <a:xfrm>
            <a:off x="749808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</a:t>
            </a:r>
            <a:r>
              <a:rPr lang="ru-RU" sz="18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работе АСУ </a:t>
            </a:r>
            <a:r>
              <a:rPr lang="en-US" sz="1800" dirty="0" err="1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базовая</a:t>
            </a:r>
            <a:r>
              <a:rPr lang="en-US" sz="18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логика реализована на Python + OpenCV и опирается на понятные оператору правила оценки.</a:t>
            </a:r>
            <a:endParaRPr lang="en-US" sz="18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4CEA202-953D-49EB-8F2F-7B3FBD58FADB}"/>
              </a:ext>
            </a:extLst>
          </p:cNvPr>
          <p:cNvSpPr/>
          <p:nvPr/>
        </p:nvSpPr>
        <p:spPr>
          <a:xfrm>
            <a:off x="204825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008A1A23-B3A5-4EF6-B796-6DF7DECB65DC}"/>
              </a:ext>
            </a:extLst>
          </p:cNvPr>
          <p:cNvSpPr/>
          <p:nvPr/>
        </p:nvSpPr>
        <p:spPr>
          <a:xfrm>
            <a:off x="396849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6A1294F1-74C3-403D-AE5E-7C377FB0FC64}"/>
              </a:ext>
            </a:extLst>
          </p:cNvPr>
          <p:cNvSpPr/>
          <p:nvPr/>
        </p:nvSpPr>
        <p:spPr>
          <a:xfrm>
            <a:off x="588873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30AE3A22-8C02-4D77-BB4F-CD6EC4E4C11E}"/>
              </a:ext>
            </a:extLst>
          </p:cNvPr>
          <p:cNvSpPr/>
          <p:nvPr/>
        </p:nvSpPr>
        <p:spPr>
          <a:xfrm>
            <a:off x="780897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FEA65E6E-9428-4C72-A8B5-A836EED4E392}"/>
              </a:ext>
            </a:extLst>
          </p:cNvPr>
          <p:cNvSpPr/>
          <p:nvPr/>
        </p:nvSpPr>
        <p:spPr>
          <a:xfrm>
            <a:off x="9729216" y="2430145"/>
            <a:ext cx="39319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875A7476-4E2F-4E25-8551-8E038E9253D8}"/>
              </a:ext>
            </a:extLst>
          </p:cNvPr>
          <p:cNvSpPr/>
          <p:nvPr/>
        </p:nvSpPr>
        <p:spPr>
          <a:xfrm>
            <a:off x="56692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Сигнал от ПЛК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старт цикла</a:t>
            </a:r>
            <a:endParaRPr lang="en-US" sz="165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62DB386-7795-47AC-AB5A-C7B5D87EF9F9}"/>
              </a:ext>
            </a:extLst>
          </p:cNvPr>
          <p:cNvSpPr/>
          <p:nvPr/>
        </p:nvSpPr>
        <p:spPr>
          <a:xfrm>
            <a:off x="248716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Захват кадра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камера + свет</a:t>
            </a:r>
            <a:endParaRPr lang="en-US" sz="165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5EE158D-8303-40DB-B9BB-38DF79F6915A}"/>
              </a:ext>
            </a:extLst>
          </p:cNvPr>
          <p:cNvSpPr/>
          <p:nvPr/>
        </p:nvSpPr>
        <p:spPr>
          <a:xfrm>
            <a:off x="440740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ROI и HSV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зоны интереса</a:t>
            </a:r>
            <a:endParaRPr lang="en-US" sz="165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DA62917-0D31-47A0-A38D-B60460002C09}"/>
              </a:ext>
            </a:extLst>
          </p:cNvPr>
          <p:cNvSpPr/>
          <p:nvPr/>
        </p:nvSpPr>
        <p:spPr>
          <a:xfrm>
            <a:off x="632764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Морфология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контуры и маски</a:t>
            </a:r>
            <a:endParaRPr lang="en-US" sz="165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134D2829-39DE-4155-9ABE-66E1AA837312}"/>
              </a:ext>
            </a:extLst>
          </p:cNvPr>
          <p:cNvSpPr/>
          <p:nvPr/>
        </p:nvSpPr>
        <p:spPr>
          <a:xfrm>
            <a:off x="8247888" y="1972945"/>
            <a:ext cx="1481328" cy="91440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Метрики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площадь и форма</a:t>
            </a:r>
            <a:endParaRPr lang="en-US" sz="165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2191AC4-BFC2-435D-9E5B-19F1DB81E3EB}"/>
              </a:ext>
            </a:extLst>
          </p:cNvPr>
          <p:cNvSpPr/>
          <p:nvPr/>
        </p:nvSpPr>
        <p:spPr>
          <a:xfrm>
            <a:off x="10058400" y="1972945"/>
            <a:ext cx="1481328" cy="914400"/>
          </a:xfrm>
          <a:prstGeom prst="rect">
            <a:avLst/>
          </a:prstGeom>
          <a:solidFill>
            <a:srgbClr val="F3E4E4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A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норма / брак</a:t>
            </a:r>
            <a:endParaRPr lang="en-US" sz="165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0F92F54F-AB99-4E10-9EA1-4D35D5517C6B}"/>
              </a:ext>
            </a:extLst>
          </p:cNvPr>
          <p:cNvSpPr/>
          <p:nvPr/>
        </p:nvSpPr>
        <p:spPr>
          <a:xfrm>
            <a:off x="736092" y="316865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После сегментации система формирует метрики дефекта и передает результат в ПЛК. Пороговые параметры можно перенастраивать без изменения общей архитектуры.</a:t>
            </a:r>
            <a:endParaRPr lang="en-US" sz="18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D1ED1E8-DEE9-4765-8046-AA488234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70" y="4455794"/>
            <a:ext cx="3687334" cy="2052166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AFE4E6DF-3618-48AE-B856-5AFEBE1139E8}"/>
              </a:ext>
            </a:extLst>
          </p:cNvPr>
          <p:cNvSpPr/>
          <p:nvPr/>
        </p:nvSpPr>
        <p:spPr>
          <a:xfrm>
            <a:off x="2048256" y="4073260"/>
            <a:ext cx="2897393" cy="291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7A2E2E"/>
                </a:solidFill>
                <a:latin typeface="Times New Roman" pitchFamily="34" charset="0"/>
                <a:cs typeface="Times New Roman" pitchFamily="34" charset="-120"/>
              </a:rPr>
              <a:t>Наложение маски на кадр для отсева лишних частей изображения</a:t>
            </a:r>
            <a:endParaRPr lang="en-US" sz="1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283B9E-8A67-4327-BACF-9479AF42C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454" y="4167549"/>
            <a:ext cx="2816535" cy="2424637"/>
          </a:xfrm>
          <a:prstGeom prst="rect">
            <a:avLst/>
          </a:prstGeom>
        </p:spPr>
      </p:pic>
      <p:sp>
        <p:nvSpPr>
          <p:cNvPr id="26" name="Text 10">
            <a:extLst>
              <a:ext uri="{FF2B5EF4-FFF2-40B4-BE49-F238E27FC236}">
                <a16:creationId xmlns:a16="http://schemas.microsoft.com/office/drawing/2014/main" id="{767693FF-0ADC-41FB-9E44-BDCAE6D53809}"/>
              </a:ext>
            </a:extLst>
          </p:cNvPr>
          <p:cNvSpPr/>
          <p:nvPr/>
        </p:nvSpPr>
        <p:spPr>
          <a:xfrm>
            <a:off x="6096000" y="4065358"/>
            <a:ext cx="2331720" cy="55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7A2E2E"/>
                </a:solidFill>
                <a:latin typeface="Times New Roman" pitchFamily="34" charset="0"/>
                <a:cs typeface="Times New Roman" pitchFamily="34" charset="-120"/>
              </a:rPr>
              <a:t>Лог системы </a:t>
            </a:r>
          </a:p>
          <a:p>
            <a:pPr marL="0" indent="0" algn="ctr">
              <a:buNone/>
            </a:pPr>
            <a:r>
              <a:rPr lang="ru-RU" sz="1400" b="1" dirty="0">
                <a:solidFill>
                  <a:srgbClr val="7A2E2E"/>
                </a:solidFill>
                <a:latin typeface="Times New Roman" pitchFamily="34" charset="0"/>
                <a:cs typeface="Times New Roman" pitchFamily="34" charset="-120"/>
              </a:rPr>
              <a:t>в файл </a:t>
            </a:r>
            <a:r>
              <a:rPr lang="en-US" sz="1400" b="1" dirty="0">
                <a:solidFill>
                  <a:srgbClr val="7A2E2E"/>
                </a:solidFill>
                <a:latin typeface="Times New Roman" pitchFamily="34" charset="0"/>
                <a:cs typeface="Times New Roman" pitchFamily="34" charset="-120"/>
              </a:rPr>
              <a:t>.txt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142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EA6B3A20-0BDD-436A-9E67-DB33E2994D24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Структура АСУ визуального контроля</a:t>
            </a:r>
            <a:endParaRPr lang="en-US" sz="2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1BF9484-1085-4C1A-8D20-6736E02DFF40}"/>
              </a:ext>
            </a:extLst>
          </p:cNvPr>
          <p:cNvSpPr/>
          <p:nvPr/>
        </p:nvSpPr>
        <p:spPr>
          <a:xfrm>
            <a:off x="749808" y="12161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Контур распознавания расположен на ПК, а исполнительное действие остается на стороне ПЛК.</a:t>
            </a:r>
            <a:endParaRPr lang="en-US" sz="18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2237C21-ACAD-40FE-B7DC-F683CAF4F6FD}"/>
              </a:ext>
            </a:extLst>
          </p:cNvPr>
          <p:cNvSpPr/>
          <p:nvPr/>
        </p:nvSpPr>
        <p:spPr>
          <a:xfrm>
            <a:off x="2400300" y="2468879"/>
            <a:ext cx="644741" cy="9143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ECCD0A9-F3FC-41A0-9A81-7D53FDFFC827}"/>
              </a:ext>
            </a:extLst>
          </p:cNvPr>
          <p:cNvSpPr/>
          <p:nvPr/>
        </p:nvSpPr>
        <p:spPr>
          <a:xfrm flipV="1">
            <a:off x="5093119" y="2478022"/>
            <a:ext cx="713322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213964D-DF07-4F9A-8094-C0D6BDF1C76C}"/>
              </a:ext>
            </a:extLst>
          </p:cNvPr>
          <p:cNvSpPr/>
          <p:nvPr/>
        </p:nvSpPr>
        <p:spPr>
          <a:xfrm>
            <a:off x="7652551" y="2466596"/>
            <a:ext cx="639194" cy="11426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256EA7D-893D-4ACB-8FAB-78D699D7187A}"/>
              </a:ext>
            </a:extLst>
          </p:cNvPr>
          <p:cNvSpPr/>
          <p:nvPr/>
        </p:nvSpPr>
        <p:spPr>
          <a:xfrm>
            <a:off x="6697980" y="2880360"/>
            <a:ext cx="2" cy="1097281"/>
          </a:xfrm>
          <a:prstGeom prst="line">
            <a:avLst/>
          </a:prstGeom>
          <a:noFill/>
          <a:ln w="12700">
            <a:solidFill>
              <a:srgbClr val="8A6C13"/>
            </a:solidFill>
            <a:prstDash val="solid"/>
            <a:tailEnd type="triangle"/>
          </a:ln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02CCA0D-CA49-4E80-849C-ACE119A1A5DA}"/>
              </a:ext>
            </a:extLst>
          </p:cNvPr>
          <p:cNvSpPr/>
          <p:nvPr/>
        </p:nvSpPr>
        <p:spPr>
          <a:xfrm>
            <a:off x="4069080" y="2880360"/>
            <a:ext cx="0" cy="1097281"/>
          </a:xfrm>
          <a:prstGeom prst="line">
            <a:avLst/>
          </a:prstGeom>
          <a:noFill/>
          <a:ln w="12700">
            <a:solidFill>
              <a:srgbClr val="8A6C13"/>
            </a:solidFill>
            <a:prstDash val="solid"/>
            <a:tailEnd type="triangle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212C71B-B056-412C-88DE-00F39E00B63D}"/>
              </a:ext>
            </a:extLst>
          </p:cNvPr>
          <p:cNvSpPr/>
          <p:nvPr/>
        </p:nvSpPr>
        <p:spPr>
          <a:xfrm>
            <a:off x="914400" y="2057400"/>
            <a:ext cx="141732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Камера и свет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формирование кадра</a:t>
            </a:r>
            <a:endParaRPr lang="en-US" sz="16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BA94D50-EA3C-4ED7-BEF1-2ED16C61EFC7}"/>
              </a:ext>
            </a:extLst>
          </p:cNvPr>
          <p:cNvSpPr/>
          <p:nvPr/>
        </p:nvSpPr>
        <p:spPr>
          <a:xfrm>
            <a:off x="3154680" y="2057400"/>
            <a:ext cx="1828800" cy="822960"/>
          </a:xfrm>
          <a:prstGeom prst="rect">
            <a:avLst/>
          </a:prstGeom>
          <a:solidFill>
            <a:srgbClr val="FFF7E3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ПК с алгоритмом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/ OpenCV</a:t>
            </a:r>
            <a:endParaRPr lang="en-US" sz="16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D69EDFB1-9BD2-46C4-A865-CCCACBBAC7C3}"/>
              </a:ext>
            </a:extLst>
          </p:cNvPr>
          <p:cNvSpPr/>
          <p:nvPr/>
        </p:nvSpPr>
        <p:spPr>
          <a:xfrm>
            <a:off x="5897880" y="2057400"/>
            <a:ext cx="160020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ПЛК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cs typeface="Times New Roman" pitchFamily="34" charset="-120"/>
              </a:rPr>
              <a:t>ST</a:t>
            </a:r>
            <a:r>
              <a:rPr lang="ru-RU" sz="1650" dirty="0">
                <a:solidFill>
                  <a:srgbClr val="5D554C"/>
                </a:solidFill>
                <a:latin typeface="Times New Roman" pitchFamily="34" charset="0"/>
                <a:cs typeface="Times New Roman" pitchFamily="34" charset="-120"/>
              </a:rPr>
              <a:t>-код</a:t>
            </a:r>
            <a:endParaRPr lang="en-US" sz="165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C1AF612-70FE-4E52-AB11-5CEEE1D51D95}"/>
              </a:ext>
            </a:extLst>
          </p:cNvPr>
          <p:cNvSpPr/>
          <p:nvPr/>
        </p:nvSpPr>
        <p:spPr>
          <a:xfrm>
            <a:off x="8412480" y="2057400"/>
            <a:ext cx="1965960" cy="822960"/>
          </a:xfrm>
          <a:prstGeom prst="rect">
            <a:avLst/>
          </a:prstGeom>
          <a:solidFill>
            <a:srgbClr val="F3E4E4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A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Исполнительный узел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механизм браковки</a:t>
            </a:r>
            <a:endParaRPr lang="en-US" sz="16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953B829-9BB9-4336-8597-E5767E6BBF99}"/>
              </a:ext>
            </a:extLst>
          </p:cNvPr>
          <p:cNvSpPr/>
          <p:nvPr/>
        </p:nvSpPr>
        <p:spPr>
          <a:xfrm>
            <a:off x="5623560" y="4066795"/>
            <a:ext cx="214884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Панель оператора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статус и наладка</a:t>
            </a:r>
            <a:endParaRPr lang="en-US" sz="16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7654DE7-6281-432A-9790-6234451A0EE3}"/>
              </a:ext>
            </a:extLst>
          </p:cNvPr>
          <p:cNvSpPr/>
          <p:nvPr/>
        </p:nvSpPr>
        <p:spPr>
          <a:xfrm>
            <a:off x="2651760" y="4069080"/>
            <a:ext cx="242316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Архив и журнал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кадры, события, статистика</a:t>
            </a:r>
            <a:endParaRPr lang="en-US" sz="165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6E78AF4-23D7-49C7-BD0A-116E79154033}"/>
              </a:ext>
            </a:extLst>
          </p:cNvPr>
          <p:cNvSpPr/>
          <p:nvPr/>
        </p:nvSpPr>
        <p:spPr>
          <a:xfrm>
            <a:off x="749808" y="548640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Такое разделение повышает надежность, упрощает интеграцию и облегчает масштабирование на другие участки.</a:t>
            </a:r>
            <a:endParaRPr lang="en-US" sz="18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6C795C10-6835-4775-9F40-FA0355372540}"/>
              </a:ext>
            </a:extLst>
          </p:cNvPr>
          <p:cNvSpPr/>
          <p:nvPr/>
        </p:nvSpPr>
        <p:spPr>
          <a:xfrm>
            <a:off x="8412480" y="3470149"/>
            <a:ext cx="2148840" cy="822960"/>
          </a:xfrm>
          <a:prstGeom prst="rect">
            <a:avLst/>
          </a:prstGeom>
          <a:solidFill>
            <a:srgbClr val="FFFDFC"/>
          </a:solidFill>
          <a:ln>
            <a:solidFill>
              <a:srgbClr val="D9D0C2"/>
            </a:solidFill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sz="1650" b="1" dirty="0">
                <a:solidFill>
                  <a:srgbClr val="2D2926"/>
                </a:solidFill>
                <a:latin typeface="Times New Roman" pitchFamily="34" charset="0"/>
                <a:cs typeface="Times New Roman" pitchFamily="34" charset="-120"/>
              </a:rPr>
              <a:t>Датчик наличия объекта</a:t>
            </a:r>
            <a:endParaRPr lang="en-US" sz="16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84559D1B-069C-4517-B94D-E1B44233B950}"/>
              </a:ext>
            </a:extLst>
          </p:cNvPr>
          <p:cNvSpPr/>
          <p:nvPr/>
        </p:nvSpPr>
        <p:spPr>
          <a:xfrm flipH="1" flipV="1">
            <a:off x="7652552" y="2969515"/>
            <a:ext cx="714219" cy="514349"/>
          </a:xfrm>
          <a:prstGeom prst="line">
            <a:avLst/>
          </a:prstGeom>
          <a:noFill/>
          <a:ln w="12700">
            <a:solidFill>
              <a:srgbClr val="8A6C13"/>
            </a:solidFill>
            <a:prstDash val="solid"/>
            <a:tailEnd type="triangle"/>
          </a:ln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0B89B51-5FB8-4153-AD66-2B294C056AE9}"/>
              </a:ext>
            </a:extLst>
          </p:cNvPr>
          <p:cNvSpPr/>
          <p:nvPr/>
        </p:nvSpPr>
        <p:spPr>
          <a:xfrm flipH="1">
            <a:off x="5093119" y="2630422"/>
            <a:ext cx="657243" cy="0"/>
          </a:xfrm>
          <a:prstGeom prst="line">
            <a:avLst/>
          </a:prstGeom>
          <a:noFill/>
          <a:ln w="12700">
            <a:solidFill>
              <a:srgbClr val="C79A1B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09529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445B-6990-41BE-99BC-C4F5A97E9167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24C994A-8E30-46EA-9D96-105461DD424E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Варианты сортировки и отбраковки</a:t>
            </a:r>
            <a:endParaRPr lang="en-US" sz="2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D653D9D-9BFA-4F0C-B82A-51B59F800056}"/>
              </a:ext>
            </a:extLst>
          </p:cNvPr>
          <p:cNvSpPr/>
          <p:nvPr/>
        </p:nvSpPr>
        <p:spPr>
          <a:xfrm>
            <a:off x="762000" y="4471682"/>
            <a:ext cx="2148840" cy="1463040"/>
          </a:xfrm>
          <a:prstGeom prst="rect">
            <a:avLst/>
          </a:prstGeom>
          <a:noFill/>
          <a:ln>
            <a:noFill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ru-RU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Дельта</a:t>
            </a: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ru-RU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скара робот</a:t>
            </a:r>
          </a:p>
          <a:p>
            <a:pPr marL="0" indent="0" algn="ctr">
              <a:buNone/>
            </a:pP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Гибкая сортировка по нескольким классам качества.</a:t>
            </a:r>
            <a:endParaRPr lang="en-US" sz="15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D87338D-C157-4442-993A-9A514C1F3656}"/>
              </a:ext>
            </a:extLst>
          </p:cNvPr>
          <p:cNvSpPr/>
          <p:nvPr/>
        </p:nvSpPr>
        <p:spPr>
          <a:xfrm>
            <a:off x="5021580" y="4474345"/>
            <a:ext cx="2148840" cy="1463039"/>
          </a:xfrm>
          <a:prstGeom prst="rect">
            <a:avLst/>
          </a:prstGeom>
          <a:noFill/>
          <a:ln>
            <a:noFill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Пневмотолкатель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или отводящая планка</a:t>
            </a:r>
            <a:endParaRPr lang="en-US" sz="1550" dirty="0"/>
          </a:p>
          <a:p>
            <a:pPr marL="0" indent="0" algn="ctr">
              <a:buNone/>
            </a:pP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Простое решение для фиксированной позиции сброса.</a:t>
            </a:r>
            <a:endParaRPr lang="en-US" sz="15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847F721-4F9E-4BB2-87F1-8A5C13B06906}"/>
              </a:ext>
            </a:extLst>
          </p:cNvPr>
          <p:cNvSpPr/>
          <p:nvPr/>
        </p:nvSpPr>
        <p:spPr>
          <a:xfrm>
            <a:off x="9281160" y="4471682"/>
            <a:ext cx="2148840" cy="1463040"/>
          </a:xfrm>
          <a:prstGeom prst="rect">
            <a:avLst/>
          </a:prstGeom>
          <a:noFill/>
          <a:ln>
            <a:noFill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Воздушная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форсунка</a:t>
            </a:r>
            <a:endParaRPr lang="en-US" sz="1550" dirty="0"/>
          </a:p>
          <a:p>
            <a:pPr marL="0" indent="0" algn="ctr">
              <a:buNone/>
            </a:pP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5D55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Быстрая реакция для легких изделий.</a:t>
            </a:r>
            <a:endParaRPr lang="en-US" sz="1550" dirty="0"/>
          </a:p>
        </p:txBody>
      </p:sp>
      <p:pic>
        <p:nvPicPr>
          <p:cNvPr id="10" name="Picture 2" descr="Дельта роботы серии IR-DT - купить по доступным ценам с доставкой по России  в КАМИ">
            <a:extLst>
              <a:ext uri="{FF2B5EF4-FFF2-40B4-BE49-F238E27FC236}">
                <a16:creationId xmlns:a16="http://schemas.microsoft.com/office/drawing/2014/main" id="{36A8263C-45C0-466D-A6C7-9781060BC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45" y="1558100"/>
            <a:ext cx="196215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602CDB-B1B5-4F98-8FEB-6C1B238B2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68" y="1453435"/>
            <a:ext cx="3444582" cy="256814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ADADDDC-B70B-4292-A920-E0B01BAB0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355" y="1453435"/>
            <a:ext cx="3180386" cy="256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20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F98080A3-71D0-4CE8-BE40-EEFC64BDE250}"/>
              </a:ext>
            </a:extLst>
          </p:cNvPr>
          <p:cNvSpPr/>
          <p:nvPr/>
        </p:nvSpPr>
        <p:spPr>
          <a:xfrm>
            <a:off x="594360" y="420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Итоги и практическая ценность решения</a:t>
            </a:r>
            <a:endParaRPr lang="en-US" sz="2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A1EE763-E46C-48EF-913F-AF11CCF1266F}"/>
              </a:ext>
            </a:extLst>
          </p:cNvPr>
          <p:cNvSpPr/>
          <p:nvPr/>
        </p:nvSpPr>
        <p:spPr>
          <a:xfrm>
            <a:off x="1306941" y="1225119"/>
            <a:ext cx="5394960" cy="65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 снижает влияние человеческого фактора в условиях поточного производства.</a:t>
            </a:r>
            <a:endParaRPr lang="en-US" sz="2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E865451-8C03-4EAB-AF52-C44D60D9D9DB}"/>
              </a:ext>
            </a:extLst>
          </p:cNvPr>
          <p:cNvSpPr/>
          <p:nvPr/>
        </p:nvSpPr>
        <p:spPr>
          <a:xfrm>
            <a:off x="1306941" y="1989832"/>
            <a:ext cx="5394960" cy="99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Каждый дефект получает цифровой след: изображение, время, позицию и результат анализа.</a:t>
            </a:r>
            <a:endParaRPr lang="en-US" sz="2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E79E8E1-4137-4A8D-A1B2-95AFBA159510}"/>
              </a:ext>
            </a:extLst>
          </p:cNvPr>
          <p:cNvSpPr/>
          <p:nvPr/>
        </p:nvSpPr>
        <p:spPr>
          <a:xfrm>
            <a:off x="1306941" y="2984419"/>
            <a:ext cx="5394960" cy="102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Это позволяет выявлять редкий случайный брак, который невозможно надежно отслеживать глазами.</a:t>
            </a:r>
            <a:endParaRPr lang="en-US" sz="20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158BE70-B557-4370-A32A-08686F804926}"/>
              </a:ext>
            </a:extLst>
          </p:cNvPr>
          <p:cNvSpPr/>
          <p:nvPr/>
        </p:nvSpPr>
        <p:spPr>
          <a:xfrm>
            <a:off x="1306941" y="3946923"/>
            <a:ext cx="5394960" cy="96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Накопленная статистика помогает искать первопричины: загрязнение оснастки, износ узлов, микросбои процесса.</a:t>
            </a:r>
            <a:endParaRPr lang="en-US" sz="20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83B182C-2FC0-4A1B-8E02-DEAEFA9FB4FC}"/>
              </a:ext>
            </a:extLst>
          </p:cNvPr>
          <p:cNvSpPr/>
          <p:nvPr/>
        </p:nvSpPr>
        <p:spPr>
          <a:xfrm>
            <a:off x="1306941" y="5047177"/>
            <a:ext cx="5394960" cy="96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масштабируется: можно добавлять новые камеры, новые классы дефектов и нейросетевые модули.</a:t>
            </a:r>
            <a:endParaRPr lang="en-US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E97734-5455-4FC1-BA51-5854D00251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97" y="1543988"/>
            <a:ext cx="3317141" cy="447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895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37620</TotalTime>
  <Words>402</Words>
  <Application>Microsoft Office PowerPoint</Application>
  <PresentationFormat>Широкоэкранный</PresentationFormat>
  <Paragraphs>69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Тема Office</vt:lpstr>
      <vt:lpstr>  МИНИСТЕРСТВО НАУКИ И ВЫСШЕГО ОБРАЗОВАНИЯ РОССИЙСКОЙ ФЕДЕРАЦИИ ФЕДЕРАЛЬНОЕ ГОСУДАРСТВЕННОЕ БЮДЖЕТНОЕ ОБРАЗОВАТЕЛЬНОЕ  УЧРЕЖДЕНИЕ ВЫСШЕГО ОБРАЗОВАНИЯ МОСКОВСКИЙ ГОСУДАРСТВЕННЫЙ УНИВЕРСИТЕТ ТЕХНОЛОГИЙ И УПРАВЛЕНИЯ ИМЕНИ К.Г. РАЗУМОВСКОГО (ПЕРВЫЙ КАЗАЧИЙ УНИВЕРСИТЕТ)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МОСКОВСКИЙ ГОСУДАРСТВЕННЫЙ УНИВЕРСИТЕТ ТЕХНОЛОГИЙ И УПРАВЛЕНИЯ ИМЕНИ К.Г. РАЗУМОВСКОГО (ПЕРВЫЙ КАЗАЧИЙ УНИВЕРСИТЕТ)  кафедра «Информационные системы и цифровые технологии» Направление подготовки: 09.03.01 Информатика и вычислительная техника Направленность (профиль): Проектирование программного обеспечения для бизнеса</dc:title>
  <dc:creator>v.v.nikitin@MGUTU.LOC</dc:creator>
  <cp:lastModifiedBy>L13 Yoga</cp:lastModifiedBy>
  <cp:revision>346</cp:revision>
  <cp:lastPrinted>2024-09-16T08:03:49Z</cp:lastPrinted>
  <dcterms:created xsi:type="dcterms:W3CDTF">2024-05-21T11:53:15Z</dcterms:created>
  <dcterms:modified xsi:type="dcterms:W3CDTF">2026-04-22T14:54:39Z</dcterms:modified>
</cp:coreProperties>
</file>